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></Relationship><Relationship Id="rId2" Type="http://schemas.openxmlformats.org/package/2006/relationships/metadata/thumbnail" Target="docProps/thumbnail.jpeg"></Relationship><Relationship Id="rId1" Type="http://schemas.openxmlformats.org/officeDocument/2006/relationships/officeDocument" Target="ppt/presentation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7"/>
  </p:notesMasterIdLst>
  <p:sldIdLst>
    <p:sldId xmlns:r="http://schemas.openxmlformats.org/officeDocument/2006/relationships" id="256" r:id="rId2"/>
  </p:sldIdLst>
  <p:sldSz cx="9144000" cy="6858000" type="screen4x3"/>
  <p:notesSz cx="6858000" cy="9144000"/>
  <p:defaultTextStyle>
    <a:defPPr/>
    <a:lvl1pPr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esProps" Target="presProps.xml"></Relationship><Relationship Id="rId2" Type="http://schemas.openxmlformats.org/officeDocument/2006/relationships/slide" Target="slides/slide1.xml"></Relationship><Relationship Id="rId1" Type="http://schemas.openxmlformats.org/officeDocument/2006/relationships/slideMaster" Target="slideMasters/slideMaster1.xml"></Relationship><Relationship Id="rId6" Type="http://schemas.openxmlformats.org/officeDocument/2006/relationships/tableStyles" Target="tableStyles.xml"></Relationship><Relationship Id="rId5" Type="http://schemas.openxmlformats.org/officeDocument/2006/relationships/theme" Target="theme/theme1.xml"></Relationship><Relationship Id="rId4" Type="http://schemas.openxmlformats.org/officeDocument/2006/relationships/viewProps" Target="viewProps.xml"></Relationship><Relationship Id="rId7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></Relationship><Relationship Id="rId3" Type="http://schemas.openxmlformats.org/officeDocument/2006/relationships/slideLayout" Target="../slideLayouts/slideLayout3.xml"></Relationship><Relationship Id="rId7" Type="http://schemas.openxmlformats.org/officeDocument/2006/relationships/slideLayout" Target="../slideLayouts/slideLayout7.xml"></Relationship><Relationship Id="rId12" Type="http://schemas.openxmlformats.org/officeDocument/2006/relationships/theme" Target="../theme/theme1.xml"></Relationship><Relationship Id="rId2" Type="http://schemas.openxmlformats.org/officeDocument/2006/relationships/slideLayout" Target="../slideLayouts/slideLayout2.xml"></Relationship><Relationship Id="rId1" Type="http://schemas.openxmlformats.org/officeDocument/2006/relationships/slideLayout" Target="../slideLayouts/slideLayout1.xml"></Relationship><Relationship Id="rId6" Type="http://schemas.openxmlformats.org/officeDocument/2006/relationships/slideLayout" Target="../slideLayouts/slideLayout6.xml"></Relationship><Relationship Id="rId11" Type="http://schemas.openxmlformats.org/officeDocument/2006/relationships/slideLayout" Target="../slideLayouts/slideLayout11.xml"></Relationship><Relationship Id="rId5" Type="http://schemas.openxmlformats.org/officeDocument/2006/relationships/slideLayout" Target="../slideLayouts/slideLayout5.xml"></Relationship><Relationship Id="rId10" Type="http://schemas.openxmlformats.org/officeDocument/2006/relationships/slideLayout" Target="../slideLayouts/slideLayout10.xml"></Relationship><Relationship Id="rId4" Type="http://schemas.openxmlformats.org/officeDocument/2006/relationships/slideLayout" Target="../slideLayouts/slideLayout4.xml"></Relationship><Relationship Id="rId9" Type="http://schemas.openxmlformats.org/officeDocument/2006/relationships/slideLayout" Target="../slideLayouts/slideLayout9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></Relationship><Relationship Id="rId2" Type="http://schemas.openxmlformats.org/officeDocument/2006/relationships/image" Target="../media/image1.png"></Relationship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/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  <pic xmlns="http://schemas.openxmlformats.org/presentationml/2006/main">
        <nvPicPr>
          <p:cNvPr id="1026" name="Picture 2" descr="cartoony marvel-style illustration of Frankenstein's laboratory with dramatic lighting, oversized machinery, glowing tubes, and a whimsical mad-science atmosphere"/>
          <cNvPicPr>
            <a:picLocks xmlns:a="http://schemas.openxmlformats.org/drawingml/2006/main" noChangeAspect="true" noChangeArrowheads="true"/>
          </cNvPicPr>
          <p:nvPr/>
        </nvPicPr>
        <p:blipFill rotWithShape="true">
          <a:blip xmlns:a="http://schemas.openxmlformats.org/drawingml/2006/main"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srcRect t="17161" r="2" b="7840"/>
          <a:stretch>
            <a:fillRect xmlns:a="http://schemas.openxmlformats.org/drawingml/2006/main"/>
          </a:stretch>
        </p:blipFill>
        <p:spPr>
          <a:xfrm xmlns:a="http://schemas.openxmlformats.org/drawingml/2006/main">
            <a:off xmlns:a="http://schemas.openxmlformats.org/drawingml/2006/main" x="-2" y="10"/>
            <a:ext cx="9144000" cy="6857989"/>
          </a:xfrm>
          <a:prstGeom xmlns:a="http://schemas.openxmlformats.org/drawingml/2006/main" prst="rect">
            <avLst xmlns:a="http://schemas.openxmlformats.org/drawingml/2006/main"/>
          </a:prstGeom>
          <noFill xmlns:a="http://schemas.openxmlformats.org/drawingml/2006/main"/>
        </p:spPr>
      </pic>
      <p:sp>
        <p:nvSpPr>
          <p:cNvPr id="2" name="TextBox 1"/>
          <p:cNvSpPr txBox="true"/>
          <p:nvPr/>
        </p:nvSpPr>
        <p:spPr>
          <a:xfrm xmlns:a="http://schemas.openxmlformats.org/drawingml/2006/main">
            <a:off xmlns:a="http://schemas.openxmlformats.org/drawingml/2006/main" x="4554334" y="3587441"/>
            <a:ext cx="3989575" cy="2165648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anchor="t" lIns="91440" tIns="45720" rIns="91440" bIns="45720" rtlCol="false">
            <a:normAutofit xmlns:a="http://schemas.openxmlformats.org/drawingml/2006/main"/>
          </a:bodyPr>
          <a:lstStyle xmlns:a="http://schemas.openxmlformats.org/drawingml/2006/main"/>
          <a:p xmlns:a="http://schemas.openxmlformats.org/drawingml/2006/main">
            <a:pPr xmlns:a="http://schemas.openxmlformats.org/drawingml/2006/main" defTabSz="685800">
              <lnSpc xmlns:a="http://schemas.openxmlformats.org/drawingml/2006/main">
                <spcPct xmlns:a="http://schemas.openxmlformats.org/drawingml/2006/main" val="90000"/>
              </lnSpc>
              <spcBef xmlns:a="http://schemas.openxmlformats.org/drawingml/2006/main">
                <spcPct xmlns:a="http://schemas.openxmlformats.org/drawingml/2006/main" val="0"/>
              </spcBef>
              <spcAft xmlns:a="http://schemas.openxmlformats.org/drawingml/2006/main">
                <spcPts xmlns:a="http://schemas.openxmlformats.org/drawingml/2006/main" val="600"/>
              </spcAft>
              <defRPr xmlns:a="http://schemas.openxmlformats.org/drawingml/2006/main" sz="2800" b="true"/>
            </a:pPr>
            <a:r xmlns:a="http://schemas.openxmlformats.org/drawingml/2006/main">
              <a:rPr xmlns:a="http://schemas.openxmlformats.org/drawingml/2006/main" lang="en-US" sz="3600" kern="1200">
                <a:solidFill xmlns:a="http://schemas.openxmlformats.org/drawingml/2006/main">
                  <a:schemeClr xmlns:a="http://schemas.openxmlformats.org/drawingml/2006/main" val="tx1"/>
                </a:solidFill>
                <a:latin xmlns:a="http://schemas.openxmlformats.org/drawingml/2006/main" typeface="+mj-lt"/>
                <a:ea xmlns:a="http://schemas.openxmlformats.org/drawingml/2006/main" typeface="+mj-ea"/>
                <a:cs xmlns:a="http://schemas.openxmlformats.org/drawingml/2006/main" typeface="+mj-cs"/>
              </a:rPr>
              <a:t xmlns:a="http://schemas.openxmlformats.org/drawingml/2006/main">Visual Elements from Frankenstein</a:t>
            </a:r>
          </a:p>
        </p:txBody>
      </p:sp>
      <p:sp>
        <p:nvSpPr>
          <p:cNvPr id="5" name="TextBox 4"/>
          <p:cNvSpPr txBox="true"/>
          <p:nvPr/>
        </p:nvSpPr>
        <p:spPr>
          <a:xfrm xmlns:a="http://schemas.openxmlformats.org/drawingml/2006/main">
            <a:off xmlns:a="http://schemas.openxmlformats.org/drawingml/2006/main" x="4554335" y="2858306"/>
            <a:ext cx="3989573" cy="729135"/>
          </a:xfrm>
          <a:prstGeom xmlns:a="http://schemas.openxmlformats.org/drawingml/2006/main" prst="rect">
            <avLst xmlns:a="http://schemas.openxmlformats.org/drawingml/2006/main"/>
          </a:prstGeom>
        </p:spPr>
        <p:txBody>
          <a:bodyPr xmlns:a="http://schemas.openxmlformats.org/drawingml/2006/main" vert="horz" anchor="b" lIns="91440" tIns="45720" rIns="91440" bIns="45720" rtlCol="false">
            <a:normAutofit xmlns:a="http://schemas.openxmlformats.org/drawingml/2006/main"/>
          </a:bodyPr>
          <a:lstStyle xmlns:a="http://schemas.openxmlformats.org/drawingml/2006/main"/>
          <a:p xmlns:a="http://schemas.openxmlformats.org/drawingml/2006/main">
            <a:pPr xmlns:a="http://schemas.openxmlformats.org/drawingml/2006/main" defTabSz="685800">
              <lnSpc xmlns:a="http://schemas.openxmlformats.org/drawingml/2006/main">
                <spcPct xmlns:a="http://schemas.openxmlformats.org/drawingml/2006/main" val="90000"/>
              </lnSpc>
              <spcBef xmlns:a="http://schemas.openxmlformats.org/drawingml/2006/main">
                <spcPts xmlns:a="http://schemas.openxmlformats.org/drawingml/2006/main" val="750"/>
              </spcBef>
              <defRPr xmlns:a="http://schemas.openxmlformats.org/drawingml/2006/main" i="true"/>
            </a:pPr>
            <a:r xmlns:a="http://schemas.openxmlformats.org/drawingml/2006/main">
              <a:rPr xmlns:a="http://schemas.openxmlformats.org/drawingml/2006/main" lang="en-US" sz="1500" kern="1200">
                <a:solidFill xmlns:a="http://schemas.openxmlformats.org/drawingml/2006/main">
                  <a:schemeClr xmlns:a="http://schemas.openxmlformats.org/drawingml/2006/main" val="tx1"/>
                </a:solidFill>
                <a:latin xmlns:a="http://schemas.openxmlformats.org/drawingml/2006/main" typeface="+mn-lt"/>
                <a:ea xmlns:a="http://schemas.openxmlformats.org/drawingml/2006/main" typeface="+mn-ea"/>
                <a:cs xmlns:a="http://schemas.openxmlformats.org/drawingml/2006/main" typeface="+mn-cs"/>
              </a:rPr>
              <a:t xmlns:a="http://schemas.openxmlformats.org/drawingml/2006/main">Images would depict key scenes from the novel</a:t>
            </a:r>
          </a:p>
        </p:txBody>
      </p:sp>
      <p:sp>
        <p:nvSpPr>
          <p:cNvPr id="1033" name="Freeform: Shape 1032"/>
          <p:cNvSpPr>
            <a:spLocks noGrp="1"/>
          </p:cNvSpPr>
          <p:nvPr/>
        </p:nvSpPr>
        <p:spPr>
          <a:xfrm xmlns:a="http://schemas.openxmlformats.org/drawingml/2006/main" flipV="true">
            <a:off xmlns:a="http://schemas.openxmlformats.org/drawingml/2006/main" x="-4" y="-1"/>
            <a:ext cx="4349997" cy="5144691"/>
          </a:xfrm>
          <custGeom xmlns:a="http://schemas.openxmlformats.org/drawingml/2006/main"/>
          <a:solidFill xmlns:a="http://schemas.openxmlformats.org/drawingml/2006/main">
            <a:srgbClr xmlns:a="http://schemas.openxmlformats.org/drawingml/2006/main" val="FFFFFF">
              <alpha xmlns:a="http://schemas.openxmlformats.org/drawingml/2006/main" val="80000"/>
            </a:srgbClr>
          </a:solidFill>
          <ln xmlns:a="http://schemas.openxmlformats.org/drawingml/2006/main">
            <noFill xmlns:a="http://schemas.openxmlformats.org/drawingml/2006/main"/>
          </ln>
        </p:spPr>
        <style>
          <lnRef xmlns:a="http://schemas.openxmlformats.org/drawingml/2006/main" idx="2">
            <a:schemeClr xmlns:a="http://schemas.openxmlformats.org/drawingml/2006/main" val="accent1">
              <shade xmlns:a="http://schemas.openxmlformats.org/drawingml/2006/main" val="50000"/>
            </a:schemeClr>
          </lnRef>
          <fillRef xmlns:a="http://schemas.openxmlformats.org/drawingml/2006/main" idx="1">
            <a:schemeClr xmlns:a="http://schemas.openxmlformats.org/drawingml/2006/main" val="accent1"/>
          </fillRef>
          <effectRef xmlns:a="http://schemas.openxmlformats.org/drawingml/2006/main" idx="0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wrap="square" anchor="ctr" rtlCol="false">
            <a:noAutofit xmlns:a="http://schemas.openxmlformats.org/drawingml/2006/main"/>
          </a:bodyPr>
          <a:lstStyle xmlns:a="http://schemas.openxmlformats.org/drawingml/2006/main"/>
          <a:p xmlns:a="http://schemas.openxmlformats.org/drawingml/2006/main">
            <a:pPr xmlns:a="http://schemas.openxmlformats.org/drawingml/2006/main" algn="ctr" defTabSz="685800">
              <defRPr xmlns:a="http://schemas.openxmlformats.org/drawingml/2006/main"/>
            </a:pPr>
            <a:endParaRPr xmlns:a="http://schemas.openxmlformats.org/drawingml/2006/main" lang="en-US" sz="1350">
              <a:solidFill xmlns:a="http://schemas.openxmlformats.org/drawingml/2006/main">
                <prstClr xmlns:a="http://schemas.openxmlformats.org/drawingml/2006/main" val="white"/>
              </a:solidFill>
              <a:latin xmlns:a="http://schemas.openxmlformats.org/drawingml/2006/main" typeface="Calibri"/>
            </a:endParaRPr>
          </a:p>
        </p:txBody>
      </p:sp>
      <pic xmlns="http://schemas.openxmlformats.org/presentationml/2006/main">
        <nvPicPr>
          <p:cNvPr id="1028" name="Picture 4" descr="Marvel comics-style angular headshot of Frankenstein with edgy features, bold lines, dramatic shadows, and intense expression, inspired by Stan Lee era character design"/>
          <cNvPicPr>
            <a:picLocks xmlns:a="http://schemas.openxmlformats.org/drawingml/2006/main" noChangeAspect="true" noChangeArrowheads="true"/>
          </cNvPicPr>
          <p:nvPr/>
        </nvPicPr>
        <p:blipFill>
          <a:blip xmlns:a="http://schemas.openxmlformats.org/drawingml/2006/main"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srcRect r="3" b="20805"/>
          <a:stretch>
            <a:fillRect xmlns:a="http://schemas.openxmlformats.org/drawingml/2006/main"/>
          </a:stretch>
        </p:blipFill>
        <p:spPr>
          <a:xfrm xmlns:a="http://schemas.openxmlformats.org/drawingml/2006/main">
            <a:off xmlns:a="http://schemas.openxmlformats.org/drawingml/2006/main" x="-2" y="1"/>
            <a:ext cx="4224619" cy="5012408"/>
          </a:xfrm>
          <custGeom xmlns:a="http://schemas.openxmlformats.org/drawingml/2006/main"/>
          <noFill xmlns:a="http://schemas.openxmlformats.org/drawingml/2006/main"/>
        </p:spPr>
      </pic>
    </p:spTree>
  </p:cSld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2</cp:revision>
  <dcterms:created xsi:type="dcterms:W3CDTF">2013-01-27T09:14:16Z</dcterms:created>
  <dcterms:modified xsi:type="dcterms:W3CDTF">2026-01-30T15:37:18Z</dcterms:modified>
  <cp:category/>
</cp:coreProperties>
</file>